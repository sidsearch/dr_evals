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78" r:id="rId9"/>
    <p:sldId id="264" r:id="rId10"/>
    <p:sldId id="266" r:id="rId11"/>
    <p:sldId id="279" r:id="rId12"/>
    <p:sldId id="280" r:id="rId13"/>
    <p:sldId id="281" r:id="rId14"/>
    <p:sldId id="265" r:id="rId15"/>
    <p:sldId id="267" r:id="rId16"/>
    <p:sldId id="268" r:id="rId17"/>
    <p:sldId id="269" r:id="rId18"/>
    <p:sldId id="271" r:id="rId19"/>
    <p:sldId id="274" r:id="rId20"/>
    <p:sldId id="275" r:id="rId21"/>
    <p:sldId id="262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79432"/>
  </p:normalViewPr>
  <p:slideViewPr>
    <p:cSldViewPr snapToGrid="0" snapToObjects="1">
      <p:cViewPr varScale="1">
        <p:scale>
          <a:sx n="113" d="100"/>
          <a:sy n="113" d="100"/>
        </p:scale>
        <p:origin x="5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4781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A400D-93FB-14E1-7FF2-7C270105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AE472-A4A2-3632-EB12-77E4C305C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CAB719-41BB-E764-34C8-8A2E33376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DCAA6-144C-1A15-D2FD-426E699E64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86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66195-2E6E-B345-A1F7-C66023E74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AACE74-EEE9-912D-084F-5729D44A5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3EE544-141B-54F6-605C-CF6621175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CC1F8-616D-4468-8958-9C00B1860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81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49C83-CA12-854F-E14C-11FD4006B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F3D50-E0EA-267C-B026-4B8181C91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A98B3C-2FCC-1F47-10E6-595CAE91B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B4C29-879A-4C8C-04D7-401B0DDA18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013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F1F2C-5420-33A1-9C0B-130440251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E7865-9B40-8266-912E-6916780DD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7DD70F-B41B-3F74-9C9F-DD979AE26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6C410-1AD5-9E71-81AC-90E201C66A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912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5C83A-BC06-37FC-14F1-9572AC2AE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0FF918-1C0E-FB45-C489-848386CD8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56694-26BF-C5B6-8063-F3E4156A0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2EAA3-78EF-61D7-3BC0-8A767FA5BE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959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43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144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6400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Coding Agents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207264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OpenCode  ·  Kiro CLI  ·  Codex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01168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autocomplete to autonomous agents — a knowledge sharing session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[Date]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9844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2070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Coding Agents?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17320" y="15179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from autocomplete to autonomous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818120" y="1316736"/>
            <a:ext cx="384048" cy="38404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18120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1938528"/>
            <a:ext cx="786384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048256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95681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Major Players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2267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OpenCode, Codex CLI, Gemini CLI, PearAI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818120" y="2066544"/>
            <a:ext cx="384048" cy="38404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81812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" y="2688336"/>
            <a:ext cx="786384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798064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7066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the Hood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1732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TUI, agentic loop, built-in tools, context management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818120" y="2816352"/>
            <a:ext cx="384048" cy="38404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81812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40080" y="3438144"/>
            <a:ext cx="786384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547872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34564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 &amp; Architecture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417320" y="3767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table, CLI vs IDE vs modular patterns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818120" y="3566160"/>
            <a:ext cx="384048" cy="38404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781812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40080" y="4187952"/>
            <a:ext cx="786384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297680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17320" y="4206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Tips &amp; Findings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1417320" y="45171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learned using these tools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7818120" y="4315968"/>
            <a:ext cx="384048" cy="38404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781812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Coding Agents?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43000" y="1737360"/>
            <a:ext cx="27432" cy="4114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1307592"/>
            <a:ext cx="310896" cy="310896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307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5448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Autocomplete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527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tab-complete suggestions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43000" y="2606040"/>
            <a:ext cx="27432" cy="4114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2176272"/>
            <a:ext cx="310896" cy="310896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5448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+ Inline Edit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ChatGPT for code Q&amp;A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43000" y="3474720"/>
            <a:ext cx="27432" cy="4114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05840" y="3044952"/>
            <a:ext cx="310896" cy="310896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55448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Workflows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264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edits, shell commands, git integration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840" y="3913632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2025-26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5448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Agents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5448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execute → test → iterate → PR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1234440"/>
            <a:ext cx="3657600" cy="3291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03520" y="18745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understand entire codebases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shell commands &amp; run tests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edits with context awareness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operations (branch, commit, PR)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 based on errors &amp; failures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extensibility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Major Players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72768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72768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1024128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Terminal-native, deep reasoning,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first-pass accuracy (~95%)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76272" y="1188720"/>
            <a:ext cx="1572768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76272" y="1188720"/>
            <a:ext cx="1572768" cy="5486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13432" y="14173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OpenCode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313432" y="18745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194560"/>
            <a:ext cx="1024128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13432" y="237744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Model-agnostic, 120K+ GitHub stars,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privacy-first, BYOM platform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95344" y="1188720"/>
            <a:ext cx="1572768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95344" y="1188720"/>
            <a:ext cx="1572768" cy="54864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32504" y="14173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 CLI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032504" y="18745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9664" y="2194560"/>
            <a:ext cx="1024128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32504" y="237744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Sandbox-first execution safety,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with ChatGPT plans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14416" y="1188720"/>
            <a:ext cx="1572768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14416" y="1188720"/>
            <a:ext cx="1572768" cy="548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51576" y="14173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CLI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751576" y="18745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88736" y="2194560"/>
            <a:ext cx="1024128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51576" y="237744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token context, free tier,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inputs, Google Search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Anthropic  ·  Proprietary  ·  CLI-native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9844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Search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5156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Auto-navigates codebases without manual context selection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Compaction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5156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token usage &amp; compresses history automatically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2491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706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20+ Built-in Tools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051560" y="29809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Read, Edit, Bash, Task, TodoWrite, Grep, WebSearch…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3814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419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Subagent System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1051560" y="36941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(633 tokens), Explore (516), Task (294) specialized prompts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51376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SWE-bench Pro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1051560" y="4407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57.5% accuracy — highest among CLI agents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5029200" y="1280160"/>
            <a:ext cx="365760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5303520" y="1463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~95%</a:t>
            </a:r>
            <a:endParaRPr lang="en-US" sz="2800" dirty="0"/>
          </a:p>
        </p:txBody>
      </p:sp>
      <p:sp>
        <p:nvSpPr>
          <p:cNvPr id="22" name="Text 15"/>
          <p:cNvSpPr/>
          <p:nvPr/>
        </p:nvSpPr>
        <p:spPr>
          <a:xfrm>
            <a:off x="5303520" y="1828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accuracy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303520" y="2194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4%</a:t>
            </a:r>
            <a:endParaRPr lang="en-US" sz="2800" dirty="0"/>
          </a:p>
        </p:txBody>
      </p:sp>
      <p:sp>
        <p:nvSpPr>
          <p:cNvPr id="24" name="Text 17"/>
          <p:cNvSpPr/>
          <p:nvPr/>
        </p:nvSpPr>
        <p:spPr>
          <a:xfrm>
            <a:off x="5303520" y="2560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GitHub commits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303520" y="29260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$20-200</a:t>
            </a:r>
            <a:endParaRPr lang="en-US" sz="2800" dirty="0"/>
          </a:p>
        </p:txBody>
      </p:sp>
      <p:sp>
        <p:nvSpPr>
          <p:cNvPr id="26" name="Text 19"/>
          <p:cNvSpPr/>
          <p:nvPr/>
        </p:nvSpPr>
        <p:spPr>
          <a:xfrm>
            <a:off x="5303520" y="32918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(Pro to Max)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303520" y="3657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v2.1.63</a:t>
            </a:r>
            <a:endParaRPr lang="en-US" sz="2800" dirty="0"/>
          </a:p>
        </p:txBody>
      </p:sp>
      <p:sp>
        <p:nvSpPr>
          <p:cNvPr id="28" name="Text 21"/>
          <p:cNvSpPr/>
          <p:nvPr/>
        </p:nvSpPr>
        <p:spPr>
          <a:xfrm>
            <a:off x="5303520" y="4023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version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OpenCode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 ·  Model-Agnostic  ·  Terminal + Desktop + IDE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9844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BYOM (Bring Your Own Model)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5156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75+ providers via Models.dev — Claude, GPT, Gemini, Ollama local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084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Plan Agents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51560" y="2359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to switch between full-access dev and read-only analysis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077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889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Air-gapped Mode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051560" y="31638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local models via Ollama for defense, healthcare, fintech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124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6941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YAML Subagent Architecture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1051560" y="39684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agents in .opencode/agents/ with permissions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029200" y="1280160"/>
            <a:ext cx="365760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5303520" y="1463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120K+</a:t>
            </a:r>
            <a:endParaRPr lang="en-US" sz="2800" dirty="0"/>
          </a:p>
        </p:txBody>
      </p:sp>
      <p:sp>
        <p:nvSpPr>
          <p:cNvPr id="19" name="Text 13"/>
          <p:cNvSpPr/>
          <p:nvPr/>
        </p:nvSpPr>
        <p:spPr>
          <a:xfrm>
            <a:off x="5303520" y="1828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303520" y="2194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800+</a:t>
            </a:r>
            <a:endParaRPr lang="en-US" sz="2800" dirty="0"/>
          </a:p>
        </p:txBody>
      </p:sp>
      <p:sp>
        <p:nvSpPr>
          <p:cNvPr id="21" name="Text 15"/>
          <p:cNvSpPr/>
          <p:nvPr/>
        </p:nvSpPr>
        <p:spPr>
          <a:xfrm>
            <a:off x="5303520" y="2560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303520" y="29260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5M+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5303520" y="32918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developers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303520" y="3657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2800" dirty="0"/>
          </a:p>
        </p:txBody>
      </p:sp>
      <p:sp>
        <p:nvSpPr>
          <p:cNvPr id="25" name="Text 19"/>
          <p:cNvSpPr/>
          <p:nvPr/>
        </p:nvSpPr>
        <p:spPr>
          <a:xfrm>
            <a:off x="5303520" y="4023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(BYOK for APIs)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6C942-8EBE-3882-2567-4A3AC924E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8023B9-909C-C763-E797-8707FA1ADBA3}"/>
              </a:ext>
            </a:extLst>
          </p:cNvPr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Agent Philosophy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7DB0DC62-D652-F7FD-CB93-802F2D0E9DF6}"/>
              </a:ext>
            </a:extLst>
          </p:cNvPr>
          <p:cNvSpPr/>
          <p:nvPr/>
        </p:nvSpPr>
        <p:spPr>
          <a:xfrm>
            <a:off x="640080" y="1065670"/>
            <a:ext cx="6208888" cy="236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Embeddings, classifiers or pattern matching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</a:rPr>
              <a:t>Lean on simple, flexible tools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</a:rPr>
              <a:t>Trained on vast tool use datasets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251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25CEF-2004-E05A-0644-DAE75C327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8A7109-E5B8-615C-4F24-3D9C32A87DED}"/>
              </a:ext>
            </a:extLst>
          </p:cNvPr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Tools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D17621A-3BCA-C4B2-0D38-864F253A8FD1}"/>
              </a:ext>
            </a:extLst>
          </p:cNvPr>
          <p:cNvSpPr/>
          <p:nvPr/>
        </p:nvSpPr>
        <p:spPr>
          <a:xfrm>
            <a:off x="1004711" y="1280159"/>
            <a:ext cx="6141155" cy="2930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Read- view file contents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Grep/Glob- search code and find files by pattern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Edit- Modify existing files (diff)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Bash – Execute shell commands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Websearch</a:t>
            </a: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</a:t>
            </a:r>
            <a:r>
              <a:rPr lang="en-US" sz="1400" b="1" dirty="0" err="1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WebFetch</a:t>
            </a: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Search the web and fetch URLS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ToDoRead</a:t>
            </a: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</a:t>
            </a:r>
            <a:r>
              <a:rPr lang="en-US" sz="1400" b="1" dirty="0" err="1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TodoWrite</a:t>
            </a: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– Task Management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</a:rPr>
              <a:t>Task- Delegate sub-tasks to isolated sub-assistants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166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Works: The Agentic Loop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coding agent runs the same fundamental pattern under the hood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37160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371600" cy="457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554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86000" y="1371600"/>
            <a:ext cx="137160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0" y="1371600"/>
            <a:ext cx="137160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0" y="14630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1554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023360" y="1371600"/>
            <a:ext cx="137160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023360" y="1371600"/>
            <a:ext cx="1371600" cy="4572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23360" y="14630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1554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760720" y="1371600"/>
            <a:ext cx="137160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60720" y="1371600"/>
            <a:ext cx="137160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60720" y="14630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Return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1554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498080" y="1371600"/>
            <a:ext cx="137160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98080" y="1371600"/>
            <a:ext cx="1371600" cy="45720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0" y="14630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2468880"/>
            <a:ext cx="2743200" cy="32004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↺  Loop until stop_reason ≠ tool_use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017520"/>
            <a:ext cx="402336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Pseudocode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40156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 = LLM(messages, tools)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response.stop == 'end_turn':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  // done, show result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tool_name = response.tool_use.name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execute(tool_name, args)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messages.append(result)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01752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3401568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magic — it's a simple while-loop that calls the LLM, checks if a tool was requested, executes it, and feeds the result back. The intelligence comes from the model; the engineering is the harness.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Tools: Agent's Toolbox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tools are what turn an LLM from a text generator into a coding agent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51760" cy="457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13990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system read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 contents with line numbers. Supports pagination for large files, images, PDFs, notebooks.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651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651760" cy="457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13990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system write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29000" y="1737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files or overwrite existing. Sends entire file content. Used for new files.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651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651760" cy="457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89520" y="13990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match &amp; replace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63640" y="1737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string replacement in files. Sends only the changed lines — much more token-efficient than Write.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2651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2651760" cy="4572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20240" y="32278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shell execution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4360" y="3566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shell commands in a persistent session. git, npm, pytest, docker — any CLI tool.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063240"/>
            <a:ext cx="2651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91840" y="3063240"/>
            <a:ext cx="265176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2900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54880" y="32278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ripgrep (rg)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29000" y="3566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ripgrep under the hood. Regex search across codebase, respects .gitignore.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063240"/>
            <a:ext cx="265176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26480" y="3063240"/>
            <a:ext cx="265176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6364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89520" y="32278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 pattern match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63640" y="3566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file pattern matching: **/*.ts, src/**/*.test.js. Returns paths sorted by modification time.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3DF224-BD85-D064-D57B-0BF2C362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2B6789-7B0D-EE83-E2CD-BA747FE14704}"/>
              </a:ext>
            </a:extLst>
          </p:cNvPr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Bash as the main adapter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D7B67999-2108-7FD8-7052-58DF3C29B966}"/>
              </a:ext>
            </a:extLst>
          </p:cNvPr>
          <p:cNvSpPr/>
          <p:nvPr/>
        </p:nvSpPr>
        <p:spPr>
          <a:xfrm>
            <a:off x="1004711" y="1280159"/>
            <a:ext cx="6141155" cy="2930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Thousands of tools in one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of off Python Script -&gt; Run it -&gt; Delete it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composes small shell tools(</a:t>
            </a:r>
            <a:r>
              <a:rPr lang="en-US" sz="1400" b="1" dirty="0" err="1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rg</a:t>
            </a: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</a:t>
            </a:r>
            <a:r>
              <a:rPr lang="en-US" sz="1400" b="1" dirty="0" err="1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jq</a:t>
            </a: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</a:t>
            </a:r>
            <a:r>
              <a:rPr lang="en-US" sz="1400" b="1" dirty="0" err="1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pytest</a:t>
            </a: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</a:t>
            </a:r>
            <a:r>
              <a:rPr lang="en-US" sz="1400" b="1" dirty="0" err="1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npm</a:t>
            </a: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 as needed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Let’s model try different things</a:t>
            </a:r>
          </a:p>
        </p:txBody>
      </p:sp>
    </p:spTree>
    <p:extLst>
      <p:ext uri="{BB962C8B-B14F-4D97-AF65-F5344CB8AC3E}">
        <p14:creationId xmlns:p14="http://schemas.microsoft.com/office/powerpoint/2010/main" val="2489751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5C95C3-CDC7-7AB3-0FC9-47080D8CB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1B7098-3838-C5D9-4503-1229B00BF1E3}"/>
              </a:ext>
            </a:extLst>
          </p:cNvPr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Do Lists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662CE44-7954-5B08-1C35-190F0538C075}"/>
              </a:ext>
            </a:extLst>
          </p:cNvPr>
          <p:cNvSpPr/>
          <p:nvPr/>
        </p:nvSpPr>
        <p:spPr>
          <a:xfrm>
            <a:off x="135467" y="824089"/>
            <a:ext cx="3465689" cy="2930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Exactly one task in progress at a time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tasks completed after finishing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blocked/error, keep </a:t>
            </a:r>
            <a:r>
              <a:rPr lang="en-US" sz="1400" b="1" dirty="0" err="1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in_progress</a:t>
            </a: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create </a:t>
            </a:r>
            <a:r>
              <a:rPr lang="en-US" sz="1400" b="1" dirty="0" err="1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new_task</a:t>
            </a:r>
            <a:endParaRPr lang="en-US" sz="1400" b="1" dirty="0">
              <a:solidFill>
                <a:schemeClr val="bg1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 for complex multi-step tasks</a:t>
            </a:r>
          </a:p>
        </p:txBody>
      </p:sp>
      <p:pic>
        <p:nvPicPr>
          <p:cNvPr id="1026" name="Picture 2" descr="What is Claude Code? The AI coding tool anyone can use">
            <a:extLst>
              <a:ext uri="{FF2B5EF4-FFF2-40B4-BE49-F238E27FC236}">
                <a16:creationId xmlns:a16="http://schemas.microsoft.com/office/drawing/2014/main" id="{9A17FEF4-DCEB-7F53-EAE1-D5F8CC3A1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156" y="640080"/>
            <a:ext cx="5576435" cy="267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7704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5FB053-E7F9-341B-2FC1-95AD4B203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0EE108-2EA5-9032-F765-7A9BC43D0ABC}"/>
              </a:ext>
            </a:extLst>
          </p:cNvPr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Sandbox environment</a:t>
            </a:r>
          </a:p>
        </p:txBody>
      </p:sp>
    </p:spTree>
    <p:extLst>
      <p:ext uri="{BB962C8B-B14F-4D97-AF65-F5344CB8AC3E}">
        <p14:creationId xmlns:p14="http://schemas.microsoft.com/office/powerpoint/2010/main" val="2721886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TUI: Terminal User Interface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coding agents render their interactive terminal experience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TUI Frameworks Under the Hood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76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(React for terminal) — JSX components render to TTY, not DOM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578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Tea (Go) — Elm architecture: Model → Update → View loop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236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CLI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93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TypeScript-based — ReAct loop with shell rendering + checkpoints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953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 CLI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1513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core — lightweight terminal rendering, minimal UI chrome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393192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TUI Gives You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938528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349240" y="1920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output — see the agent think in real-time</a:t>
            </a:r>
            <a:endParaRPr lang="en-US" sz="11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395728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49240" y="2377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diffs — visual before/after for file changes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852928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49240" y="2834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visibility — see which tool was invoked &amp; why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310128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49240" y="32918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prompts — approve/deny before execution</a:t>
            </a:r>
            <a:endParaRPr lang="en-US" sz="11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767328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9240" y="3749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— /undo, /compact, /resume</a:t>
            </a:r>
            <a:endParaRPr lang="en-US" sz="11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224528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49240" y="4206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references — @ mentions for fuzzy file search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Tools &amp; MCP Extensibility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 Tools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/ 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sub-agents with isolated context for complex multi-step work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38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TodoWrite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track task lists — agent self-manages progress through steps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2768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WebFetch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276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URL contents for docs, APIs, references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151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WebSearch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615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 for current info, library docs, error solutions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OpenCode-Specific Tools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600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Go-to-definition, find references, hover — native code intelligence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1984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1984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listing with glob filters, powered by ripgrep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3682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@general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3682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subagent for complex multi-step searches mid-conversation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82296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01568"/>
            <a:ext cx="365760" cy="3657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3000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— Model Context Protocol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008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standard for extending agents with external tools. All major agents support MCP.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0" y="3657600"/>
            <a:ext cx="1234440" cy="38404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72000" y="36576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GitLab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943600" y="3657600"/>
            <a:ext cx="1234440" cy="38404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943600" y="36576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Linear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315200" y="3657600"/>
            <a:ext cx="1234440" cy="38404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315200" y="36576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0" y="4160520"/>
            <a:ext cx="1234440" cy="38404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572000" y="41605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943600" y="4160520"/>
            <a:ext cx="1234440" cy="38404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943600" y="41605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315200" y="4160520"/>
            <a:ext cx="1234440" cy="38404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315200" y="41605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APIs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Management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handle the limited context window without losing track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4864" cy="100584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1: Tool Output Pruning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tool outputs are trimmed from message history. File contents, grep results, and bash outputs that are no longer relevant get dropped first.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54864" cy="100584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2: Auto-Compaction (~92%)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~92-95% capacity, the conversation is summarized automatically. Architectural decisions and key context are preserved; redundant outputs are discarded.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54864" cy="1005840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3: Manual /compact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triggers compaction with a focus hint: /compact focus on auth refactor. Resets the conversation to a condensed summary of what matters.</a:t>
            </a:r>
            <a:endParaRPr lang="en-US" sz="12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1772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5156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turn re-prices the entire context. Turn 50 processes 50× more input tokens than turn 1. Compact early and often!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Workflow: Debugging a Bug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what tools fire when you say "fix the failing auth test"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347472" cy="347472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43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2252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TodoWrite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0" y="122529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task list: investigate failure, find root cause, fix, verify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591056"/>
            <a:ext cx="27432" cy="14630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773936"/>
            <a:ext cx="347472" cy="34747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773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7556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17556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error message pattern across codebase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" y="2121408"/>
            <a:ext cx="27432" cy="14630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2304288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77440" y="2286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failing test file + the source file it tests (batched)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" y="2651760"/>
            <a:ext cx="27432" cy="14630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2834640"/>
            <a:ext cx="347472" cy="347472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2816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77440" y="28163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failing test to reproduce: npm test -- --testPathPattern=auth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4088" y="3182112"/>
            <a:ext cx="27432" cy="14630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3364992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33467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377440" y="334670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fix — exact string replacement, only changed lines sent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4088" y="3712464"/>
            <a:ext cx="27432" cy="14630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8640" y="3895344"/>
            <a:ext cx="347472" cy="347472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38770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377440" y="387705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tests to verify fix passes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04088" y="4242816"/>
            <a:ext cx="27432" cy="14630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8640" y="4425696"/>
            <a:ext cx="347472" cy="347472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4425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51560" y="4407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377440" y="440740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&amp;&amp; git commit — auto-generated commit message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Patterns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CLI-First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(Claude Code, Codex)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↔ Terminal ↔ Agent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repo directly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commands for execution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via git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5486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Modular Agents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(OpenCode)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Subagent system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config per agent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swappable per task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&amp; sandboxing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54864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IDE-Integrated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(PearAI, Cursor)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state + buffers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index for retrieval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edits + chat pane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router dispatching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786384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61872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1430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agents are no longer autocomplete — they plan, execute, test, and iterate autonomously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92808"/>
            <a:ext cx="786384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01168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it's a simple while-loop: LLM → tool call → execute → repeat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2642616"/>
            <a:ext cx="786384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761488"/>
            <a:ext cx="402336" cy="4023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642616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split: proprietary polish (Claude Code) vs. open freedom (OpenCode)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40080" y="3392424"/>
            <a:ext cx="786384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511296"/>
            <a:ext cx="402336" cy="40233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3392424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sandboxing, and data privacy are key differentiators — not just code quality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40080" y="4142232"/>
            <a:ext cx="786384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261104"/>
            <a:ext cx="402336" cy="40233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17320" y="414223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the emerging standard — extend agents with GitHub, Jira, Slack, custom APIs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972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51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</a:t>
            </a:r>
            <a:endParaRPr lang="en-US" sz="4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about your experiences with coding agents!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 CLI &amp; Gemini CLI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 CLI  ·  OpenAI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Sandbox-first execution (Seatbelt / Docker)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autonomy levels: Suggest → Auto Edit → Full Auto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Rust-based core for performance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diff-based patching (not string replace)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 for automated PR/issues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with ChatGPT Plus ($20/mo)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CLI  ·  Google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token context window (standard)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1,000 req/day on Flash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reasoning loop + shadow-git checkpoints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grounding for live info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Multimodal: text, images, PDFs, video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Think mode for complex reasoning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16585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812</TotalTime>
  <Words>1669</Words>
  <Application>Microsoft Macintosh PowerPoint</Application>
  <PresentationFormat>On-screen Show (16:9)</PresentationFormat>
  <Paragraphs>304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Coding Agents in 2026</dc:title>
  <dc:subject>PptxGenJS Presentation</dc:subject>
  <dc:creator>Knowledge Sharing</dc:creator>
  <cp:lastModifiedBy>Siddharth Biswal</cp:lastModifiedBy>
  <cp:revision>23</cp:revision>
  <dcterms:created xsi:type="dcterms:W3CDTF">2026-03-26T23:24:00Z</dcterms:created>
  <dcterms:modified xsi:type="dcterms:W3CDTF">2026-03-27T13:08:42Z</dcterms:modified>
</cp:coreProperties>
</file>